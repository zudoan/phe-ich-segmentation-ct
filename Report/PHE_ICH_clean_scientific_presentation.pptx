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91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 với tên đề tài, nhấn mạnh đây là bài toán phân đoạn PHE trên CT và trọng tâm là kiểm tra giá trị của ICH prior.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câu hỏi nghiên cứu: ICH prior có thật sự giúp PHE segmentation không, và nếu không rõ thì vì sao.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tại sao không chỉ nhìn Dice mà phải đọc cùng IoU, FP, FN và 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Tập trung vào thông điệp: nnU-Net là baseline hợp lý và ổn định, các backbone lớn hơn chưa tạo cải thiện.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teacher cải tiến tốt hơn ở task ICH, nhưng đây chưa phải kết quả chính của bài PHE.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 chính: không có bước nhảy mạnh. Teacher tốt hơn không tự động giúp PHE tốt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Nói về trade-off: pseudo-prior cải tiến giảm FN và tăng TP, nhưng FP tăng cao phản ánh over-segmentation.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Phân tích theo ca giúp chứng minh kết quả phụ thuộc mạnh vào từng bệnh nhân, không thể chỉ lấy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slide phản biện: trình bày trung thực vì sao prior chưa tạo cải thiện rõ và hướng làm tiếp.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thúc bằng 4 luận điểm chính và nhấn mạnh tính trung thực/khoa học của báo cáo.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D85"/>
                </a:solidFill>
              </a:rPr>
              <a:t>BÁO CÁO ĐỒ ÁN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799" y="1353312"/>
            <a:ext cx="7073781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Đánh giá ICH prior trong phân đoạn phù não quanh ổ xuất huyết trên ảnh CT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13232" y="281635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914800"/>
            <a:ext cx="5120640" cy="9596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</a:rPr>
              <a:t>Giảng viên: TS. Hoàng Văn Quý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</a:rPr>
              <a:t>Sinh viên thực hiện: 2351267280 – Đoàn Anh Vũ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</a:rPr>
              <a:t>Lớp: S26-65TTNT</a:t>
            </a:r>
            <a:endParaRPr lang="en-US" sz="1280" dirty="0"/>
          </a:p>
        </p:txBody>
      </p:sp>
      <p:sp>
        <p:nvSpPr>
          <p:cNvPr id="11" name="Text 7"/>
          <p:cNvSpPr/>
          <p:nvPr/>
        </p:nvSpPr>
        <p:spPr>
          <a:xfrm>
            <a:off x="713232" y="609400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TP. Hồ Chí Minh, 2026</a:t>
            </a:r>
            <a:endParaRPr lang="en-US" sz="1050" dirty="0"/>
          </a:p>
        </p:txBody>
      </p:sp>
      <p:pic>
        <p:nvPicPr>
          <p:cNvPr id="12" name="Image 0" descr="/mnt/data/docx_extract/word/media/image2.jpeg">
            <a:extLst>
              <a:ext uri="{FF2B5EF4-FFF2-40B4-BE49-F238E27FC236}">
                <a16:creationId xmlns:a16="http://schemas.microsoft.com/office/drawing/2014/main" id="{C00DF61C-5969-C36D-6BED-FCEB2E441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0"/>
            <a:ext cx="1417320" cy="11834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 err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Bối</a:t>
            </a:r>
            <a:r>
              <a:rPr lang="en-US" sz="2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cảnh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292608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651817"/>
            <a:ext cx="45720" cy="91440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651817"/>
            <a:ext cx="5596128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/>
              <a:t>PHE không trùng với ICH: prior vùng xuất huyết có cơ sở giải phẫu, nhưng có thể khiến mô hình học lệch nếu dùng quá trực tiếp.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093065"/>
            <a:ext cx="52120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20" dirty="0"/>
              <a:t>PHE có biên mờ và cường độ xám chồng lấp với mô não lân cận.</a:t>
            </a:r>
          </a:p>
          <a:p>
            <a:r>
              <a:rPr lang="en-US" sz="1420" dirty="0"/>
              <a:t>Thể tích tổn thương thường nhỏ; sai lệch vị trí nhỏ vẫn làm Dice giảm </a:t>
            </a:r>
            <a:r>
              <a:rPr lang="en-US" sz="1420" dirty="0" err="1"/>
              <a:t>mạnh</a:t>
            </a:r>
            <a:r>
              <a:rPr lang="en-US" sz="1420" dirty="0"/>
              <a:t>.</a:t>
            </a:r>
          </a:p>
        </p:txBody>
      </p:sp>
      <p:pic>
        <p:nvPicPr>
          <p:cNvPr id="9" name="Image 0" descr="/mnt/data/phe_media/image6.png"/>
          <p:cNvPicPr>
            <a:picLocks noChangeAspect="1"/>
          </p:cNvPicPr>
          <p:nvPr/>
        </p:nvPicPr>
        <p:blipFill>
          <a:blip r:embed="rId3"/>
          <a:srcRect l="2000" t="28325" r="-10750" b="30000"/>
          <a:stretch>
            <a:fillRect/>
          </a:stretch>
        </p:blipFill>
        <p:spPr>
          <a:xfrm>
            <a:off x="6684093" y="1479277"/>
            <a:ext cx="5734583" cy="13185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12280" y="29718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/>
              <a:t>PHE-SICH example: CT → PHE GT → ICH probability → distance prior → overlay</a:t>
            </a:r>
          </a:p>
        </p:txBody>
      </p:sp>
      <p:pic>
        <p:nvPicPr>
          <p:cNvPr id="11" name="Image 1" descr="/mnt/data/phe_media/image7.png"/>
          <p:cNvPicPr>
            <a:picLocks noChangeAspect="1"/>
          </p:cNvPicPr>
          <p:nvPr/>
        </p:nvPicPr>
        <p:blipFill>
          <a:blip r:embed="rId4"/>
          <a:srcRect l="2000" t="32768" r="-10750" b="30000"/>
          <a:stretch>
            <a:fillRect/>
          </a:stretch>
        </p:blipFill>
        <p:spPr>
          <a:xfrm>
            <a:off x="6684093" y="4047135"/>
            <a:ext cx="5671018" cy="11649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12280" y="52852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20" dirty="0"/>
              <a:t>Pseudo-prior cho thấy tín hiệu CT có thể tạo vùng gợi ý, nhưng dễ kéo theo nhiễu.</a:t>
            </a:r>
          </a:p>
        </p:txBody>
      </p:sp>
      <p:sp>
        <p:nvSpPr>
          <p:cNvPr id="13" name="Text 9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 nhánh so sánh trong cùng logic đánh giá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292608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6400800" cy="708660"/>
          </a:xfrm>
          <a:prstGeom prst="rect">
            <a:avLst/>
          </a:prstGeom>
          <a:solidFill>
            <a:srgbClr val="EAF3F6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463040"/>
            <a:ext cx="1426464" cy="6355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/>
              <a:t>Nhánh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2304288" y="1463040"/>
            <a:ext cx="2203704" cy="6355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/>
              <a:t>Đầu vào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2240280" y="1417320"/>
            <a:ext cx="0" cy="70866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36008" y="1463040"/>
            <a:ext cx="2386584" cy="6355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/>
              <a:t>Mục đích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0" cy="70866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2125980"/>
            <a:ext cx="6400800" cy="708660"/>
          </a:xfrm>
          <a:prstGeom prst="rect">
            <a:avLst/>
          </a:prstGeom>
          <a:solidFill>
            <a:srgbClr val="FBFD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171700"/>
            <a:ext cx="1426464" cy="6355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Baseline CT-only</a:t>
            </a:r>
          </a:p>
        </p:txBody>
      </p:sp>
      <p:sp>
        <p:nvSpPr>
          <p:cNvPr id="14" name="Text 12"/>
          <p:cNvSpPr/>
          <p:nvPr/>
        </p:nvSpPr>
        <p:spPr>
          <a:xfrm>
            <a:off x="2304288" y="2171700"/>
            <a:ext cx="2203704" cy="6355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CT only</a:t>
            </a:r>
          </a:p>
        </p:txBody>
      </p:sp>
      <p:sp>
        <p:nvSpPr>
          <p:cNvPr id="15" name="Shape 13"/>
          <p:cNvSpPr/>
          <p:nvPr/>
        </p:nvSpPr>
        <p:spPr>
          <a:xfrm>
            <a:off x="2240280" y="2125980"/>
            <a:ext cx="0" cy="70866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36008" y="2171700"/>
            <a:ext cx="2386584" cy="6355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Mốc so sánh chính cho PHE-only</a:t>
            </a:r>
          </a:p>
        </p:txBody>
      </p:sp>
      <p:sp>
        <p:nvSpPr>
          <p:cNvPr id="17" name="Shape 15"/>
          <p:cNvSpPr/>
          <p:nvPr/>
        </p:nvSpPr>
        <p:spPr>
          <a:xfrm>
            <a:off x="4572000" y="2125980"/>
            <a:ext cx="0" cy="70866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2834640"/>
            <a:ext cx="6400800" cy="7086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2880360"/>
            <a:ext cx="1426464" cy="6355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Teacher-prior</a:t>
            </a:r>
          </a:p>
        </p:txBody>
      </p:sp>
      <p:sp>
        <p:nvSpPr>
          <p:cNvPr id="20" name="Text 18"/>
          <p:cNvSpPr/>
          <p:nvPr/>
        </p:nvSpPr>
        <p:spPr>
          <a:xfrm>
            <a:off x="2304288" y="2880360"/>
            <a:ext cx="2203704" cy="6355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CT + ICH probability/mask + distance prior</a:t>
            </a:r>
          </a:p>
        </p:txBody>
      </p:sp>
      <p:sp>
        <p:nvSpPr>
          <p:cNvPr id="21" name="Shape 19"/>
          <p:cNvSpPr/>
          <p:nvPr/>
        </p:nvSpPr>
        <p:spPr>
          <a:xfrm>
            <a:off x="2240280" y="2834640"/>
            <a:ext cx="0" cy="70866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36008" y="2880360"/>
            <a:ext cx="2386584" cy="6355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Kiểm tra prior từ teacher có cải thiện PHE không</a:t>
            </a:r>
          </a:p>
        </p:txBody>
      </p:sp>
      <p:sp>
        <p:nvSpPr>
          <p:cNvPr id="23" name="Shape 21"/>
          <p:cNvSpPr/>
          <p:nvPr/>
        </p:nvSpPr>
        <p:spPr>
          <a:xfrm>
            <a:off x="4572000" y="2834640"/>
            <a:ext cx="0" cy="70866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" y="3543300"/>
            <a:ext cx="6400800" cy="708660"/>
          </a:xfrm>
          <a:prstGeom prst="rect">
            <a:avLst/>
          </a:prstGeom>
          <a:solidFill>
            <a:srgbClr val="FBFD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" y="3589020"/>
            <a:ext cx="1426464" cy="6355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Pseudo-prior</a:t>
            </a:r>
          </a:p>
        </p:txBody>
      </p:sp>
      <p:sp>
        <p:nvSpPr>
          <p:cNvPr id="26" name="Text 24"/>
          <p:cNvSpPr/>
          <p:nvPr/>
        </p:nvSpPr>
        <p:spPr>
          <a:xfrm>
            <a:off x="2304288" y="3589020"/>
            <a:ext cx="2203704" cy="6355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CT + pseudo-ICH probability + distance</a:t>
            </a:r>
          </a:p>
        </p:txBody>
      </p:sp>
      <p:sp>
        <p:nvSpPr>
          <p:cNvPr id="27" name="Shape 25"/>
          <p:cNvSpPr/>
          <p:nvPr/>
        </p:nvSpPr>
        <p:spPr>
          <a:xfrm>
            <a:off x="2240280" y="3543300"/>
            <a:ext cx="0" cy="70866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36008" y="3589020"/>
            <a:ext cx="2386584" cy="6355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Đối chứng để xem prior có phụ thuộc teacher hay không</a:t>
            </a:r>
          </a:p>
        </p:txBody>
      </p:sp>
      <p:sp>
        <p:nvSpPr>
          <p:cNvPr id="29" name="Shape 27"/>
          <p:cNvSpPr/>
          <p:nvPr/>
        </p:nvSpPr>
        <p:spPr>
          <a:xfrm>
            <a:off x="4572000" y="3543300"/>
            <a:ext cx="0" cy="70866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43800" y="141732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/>
              <a:t>Chỉ số đánh giá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543800" y="17373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653528" y="1847088"/>
            <a:ext cx="1197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/>
              <a:t>Dice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653528" y="2240280"/>
            <a:ext cx="11978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dirty="0"/>
              <a:t>2TP / (2TP + FP + FN)</a:t>
            </a:r>
          </a:p>
        </p:txBody>
      </p:sp>
      <p:sp>
        <p:nvSpPr>
          <p:cNvPr id="34" name="Shape 32"/>
          <p:cNvSpPr/>
          <p:nvPr/>
        </p:nvSpPr>
        <p:spPr>
          <a:xfrm>
            <a:off x="9235440" y="17373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345168" y="1847088"/>
            <a:ext cx="1197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/>
              <a:t>IoU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345168" y="2240280"/>
            <a:ext cx="11978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50" dirty="0"/>
              <a:t>TP / (TP + FP + FN)</a:t>
            </a:r>
          </a:p>
        </p:txBody>
      </p:sp>
      <p:sp>
        <p:nvSpPr>
          <p:cNvPr id="37" name="Shape 35"/>
          <p:cNvSpPr/>
          <p:nvPr/>
        </p:nvSpPr>
        <p:spPr>
          <a:xfrm>
            <a:off x="7543800" y="292608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653528" y="3035808"/>
            <a:ext cx="2889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/>
              <a:t>FP/FN/TP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653528" y="342900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/>
              <a:t>đọc xu hướng over/under-segmentation</a:t>
            </a:r>
          </a:p>
        </p:txBody>
      </p:sp>
      <p:sp>
        <p:nvSpPr>
          <p:cNvPr id="40" name="Shape 38"/>
          <p:cNvSpPr/>
          <p:nvPr/>
        </p:nvSpPr>
        <p:spPr>
          <a:xfrm>
            <a:off x="868680" y="4892040"/>
            <a:ext cx="45720" cy="59436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33272" y="4892040"/>
            <a:ext cx="9528048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/>
              <a:t>Trong PHE nhỏ, Dice tương tự vẫn có thể che giấu khác biệt lớn về FP/FN.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</a:t>
            </a:r>
            <a:r>
              <a:rPr lang="en-US" sz="2800" b="1" dirty="0" err="1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quả</a:t>
            </a:r>
            <a:r>
              <a:rPr lang="en-US" sz="28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PHE-only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292608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/>
              <a:t>Dice mean trên test split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86537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nnU-Net 3d_fullres</a:t>
            </a:r>
          </a:p>
        </p:txBody>
      </p:sp>
      <p:sp>
        <p:nvSpPr>
          <p:cNvPr id="8" name="Shape 6"/>
          <p:cNvSpPr/>
          <p:nvPr/>
        </p:nvSpPr>
        <p:spPr>
          <a:xfrm>
            <a:off x="2103120" y="1911096"/>
            <a:ext cx="377647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03120" y="1911096"/>
            <a:ext cx="3543590" cy="9144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16168" y="184708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/>
              <a:t>0.394</a:t>
            </a:r>
          </a:p>
        </p:txBody>
      </p:sp>
      <p:sp>
        <p:nvSpPr>
          <p:cNvPr id="11" name="Text 9"/>
          <p:cNvSpPr/>
          <p:nvPr/>
        </p:nvSpPr>
        <p:spPr>
          <a:xfrm>
            <a:off x="777240" y="24795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MedNeXt-S</a:t>
            </a:r>
          </a:p>
        </p:txBody>
      </p:sp>
      <p:sp>
        <p:nvSpPr>
          <p:cNvPr id="12" name="Shape 10"/>
          <p:cNvSpPr/>
          <p:nvPr/>
        </p:nvSpPr>
        <p:spPr>
          <a:xfrm>
            <a:off x="2103120" y="2525268"/>
            <a:ext cx="377647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03120" y="2525268"/>
            <a:ext cx="3261253" cy="9144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16168" y="246126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/>
              <a:t>0.363</a:t>
            </a:r>
          </a:p>
        </p:txBody>
      </p:sp>
      <p:sp>
        <p:nvSpPr>
          <p:cNvPr id="15" name="Text 13"/>
          <p:cNvSpPr/>
          <p:nvPr/>
        </p:nvSpPr>
        <p:spPr>
          <a:xfrm>
            <a:off x="777240" y="309372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MedNeXt-M</a:t>
            </a:r>
          </a:p>
        </p:txBody>
      </p:sp>
      <p:sp>
        <p:nvSpPr>
          <p:cNvPr id="16" name="Shape 14"/>
          <p:cNvSpPr/>
          <p:nvPr/>
        </p:nvSpPr>
        <p:spPr>
          <a:xfrm>
            <a:off x="2103120" y="3139440"/>
            <a:ext cx="377647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103120" y="3139440"/>
            <a:ext cx="3236976" cy="9144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16168" y="307543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/>
              <a:t>0.360</a:t>
            </a:r>
          </a:p>
        </p:txBody>
      </p:sp>
      <p:sp>
        <p:nvSpPr>
          <p:cNvPr id="19" name="Text 17"/>
          <p:cNvSpPr/>
          <p:nvPr/>
        </p:nvSpPr>
        <p:spPr>
          <a:xfrm>
            <a:off x="777240" y="370789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DynUNet</a:t>
            </a:r>
          </a:p>
        </p:txBody>
      </p:sp>
      <p:sp>
        <p:nvSpPr>
          <p:cNvPr id="20" name="Shape 18"/>
          <p:cNvSpPr/>
          <p:nvPr/>
        </p:nvSpPr>
        <p:spPr>
          <a:xfrm>
            <a:off x="2103120" y="3753612"/>
            <a:ext cx="377647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103120" y="3753612"/>
            <a:ext cx="3084119" cy="9144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16168" y="368960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/>
              <a:t>0.343</a:t>
            </a:r>
          </a:p>
        </p:txBody>
      </p:sp>
      <p:sp>
        <p:nvSpPr>
          <p:cNvPr id="23" name="Text 21"/>
          <p:cNvSpPr/>
          <p:nvPr/>
        </p:nvSpPr>
        <p:spPr>
          <a:xfrm>
            <a:off x="777240" y="432206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ResidualUNet3D</a:t>
            </a:r>
          </a:p>
        </p:txBody>
      </p:sp>
      <p:sp>
        <p:nvSpPr>
          <p:cNvPr id="24" name="Shape 22"/>
          <p:cNvSpPr/>
          <p:nvPr/>
        </p:nvSpPr>
        <p:spPr>
          <a:xfrm>
            <a:off x="2103120" y="4367784"/>
            <a:ext cx="377647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103120" y="4367784"/>
            <a:ext cx="1943085" cy="9144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16168" y="430377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/>
              <a:t>0.216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" y="493623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SwinUNETR</a:t>
            </a:r>
          </a:p>
        </p:txBody>
      </p:sp>
      <p:sp>
        <p:nvSpPr>
          <p:cNvPr id="28" name="Shape 26"/>
          <p:cNvSpPr/>
          <p:nvPr/>
        </p:nvSpPr>
        <p:spPr>
          <a:xfrm>
            <a:off x="2103120" y="4981956"/>
            <a:ext cx="377647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103120" y="4981956"/>
            <a:ext cx="1045723" cy="9144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16168" y="49179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/>
              <a:t>0.116</a:t>
            </a:r>
          </a:p>
        </p:txBody>
      </p:sp>
      <p:sp>
        <p:nvSpPr>
          <p:cNvPr id="31" name="Shape 29"/>
          <p:cNvSpPr/>
          <p:nvPr/>
        </p:nvSpPr>
        <p:spPr>
          <a:xfrm>
            <a:off x="7251192" y="2448789"/>
            <a:ext cx="4297680" cy="448056"/>
          </a:xfrm>
          <a:prstGeom prst="rect">
            <a:avLst/>
          </a:prstGeom>
          <a:solidFill>
            <a:srgbClr val="EAF3F6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0" y="2494509"/>
            <a:ext cx="197510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/>
              <a:t>Mô hình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418320" y="2494509"/>
            <a:ext cx="92354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/>
              <a:t>Dice mean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354312" y="2448789"/>
            <a:ext cx="0" cy="44805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469880" y="2494509"/>
            <a:ext cx="92354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/>
              <a:t>IoU mean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405872" y="2448789"/>
            <a:ext cx="0" cy="44805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251192" y="2896845"/>
            <a:ext cx="4297680" cy="448056"/>
          </a:xfrm>
          <a:prstGeom prst="rect">
            <a:avLst/>
          </a:prstGeom>
          <a:solidFill>
            <a:srgbClr val="FBFD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0" y="2942565"/>
            <a:ext cx="197510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/>
              <a:t>nnU-Net 3d_fullres</a:t>
            </a:r>
          </a:p>
        </p:txBody>
      </p:sp>
      <p:sp>
        <p:nvSpPr>
          <p:cNvPr id="39" name="Text 37"/>
          <p:cNvSpPr/>
          <p:nvPr/>
        </p:nvSpPr>
        <p:spPr>
          <a:xfrm>
            <a:off x="9418320" y="2942565"/>
            <a:ext cx="92354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/>
              <a:t>0.3941</a:t>
            </a:r>
          </a:p>
        </p:txBody>
      </p:sp>
      <p:sp>
        <p:nvSpPr>
          <p:cNvPr id="40" name="Shape 38"/>
          <p:cNvSpPr/>
          <p:nvPr/>
        </p:nvSpPr>
        <p:spPr>
          <a:xfrm>
            <a:off x="9354312" y="2896845"/>
            <a:ext cx="0" cy="44805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469880" y="2942565"/>
            <a:ext cx="92354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/>
              <a:t>0.2710</a:t>
            </a:r>
          </a:p>
        </p:txBody>
      </p:sp>
      <p:sp>
        <p:nvSpPr>
          <p:cNvPr id="42" name="Shape 40"/>
          <p:cNvSpPr/>
          <p:nvPr/>
        </p:nvSpPr>
        <p:spPr>
          <a:xfrm>
            <a:off x="10405872" y="2896845"/>
            <a:ext cx="0" cy="44805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251192" y="3344901"/>
            <a:ext cx="4297680" cy="448056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315200" y="3390621"/>
            <a:ext cx="197510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/>
              <a:t>MedNeXt-S</a:t>
            </a:r>
          </a:p>
        </p:txBody>
      </p:sp>
      <p:sp>
        <p:nvSpPr>
          <p:cNvPr id="45" name="Text 43"/>
          <p:cNvSpPr/>
          <p:nvPr/>
        </p:nvSpPr>
        <p:spPr>
          <a:xfrm>
            <a:off x="9418320" y="3390621"/>
            <a:ext cx="92354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/>
              <a:t>0.3627</a:t>
            </a:r>
          </a:p>
        </p:txBody>
      </p:sp>
      <p:sp>
        <p:nvSpPr>
          <p:cNvPr id="46" name="Shape 44"/>
          <p:cNvSpPr/>
          <p:nvPr/>
        </p:nvSpPr>
        <p:spPr>
          <a:xfrm>
            <a:off x="9354312" y="3344901"/>
            <a:ext cx="0" cy="44805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469880" y="3390621"/>
            <a:ext cx="92354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/>
              <a:t>0.2390</a:t>
            </a:r>
          </a:p>
        </p:txBody>
      </p:sp>
      <p:sp>
        <p:nvSpPr>
          <p:cNvPr id="48" name="Shape 46"/>
          <p:cNvSpPr/>
          <p:nvPr/>
        </p:nvSpPr>
        <p:spPr>
          <a:xfrm>
            <a:off x="10405872" y="3344901"/>
            <a:ext cx="0" cy="44805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251192" y="3792957"/>
            <a:ext cx="4297680" cy="448056"/>
          </a:xfrm>
          <a:prstGeom prst="rect">
            <a:avLst/>
          </a:prstGeom>
          <a:solidFill>
            <a:srgbClr val="FBFD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315200" y="3838677"/>
            <a:ext cx="197510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/>
              <a:t>DynUNet</a:t>
            </a:r>
          </a:p>
        </p:txBody>
      </p:sp>
      <p:sp>
        <p:nvSpPr>
          <p:cNvPr id="51" name="Text 49"/>
          <p:cNvSpPr/>
          <p:nvPr/>
        </p:nvSpPr>
        <p:spPr>
          <a:xfrm>
            <a:off x="9418320" y="3838677"/>
            <a:ext cx="92354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/>
              <a:t>0.3430</a:t>
            </a:r>
          </a:p>
        </p:txBody>
      </p:sp>
      <p:sp>
        <p:nvSpPr>
          <p:cNvPr id="52" name="Shape 50"/>
          <p:cNvSpPr/>
          <p:nvPr/>
        </p:nvSpPr>
        <p:spPr>
          <a:xfrm>
            <a:off x="9354312" y="3792957"/>
            <a:ext cx="0" cy="44805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469880" y="3838677"/>
            <a:ext cx="92354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/>
              <a:t>0.2242</a:t>
            </a:r>
          </a:p>
        </p:txBody>
      </p:sp>
      <p:sp>
        <p:nvSpPr>
          <p:cNvPr id="54" name="Shape 52"/>
          <p:cNvSpPr/>
          <p:nvPr/>
        </p:nvSpPr>
        <p:spPr>
          <a:xfrm>
            <a:off x="10405872" y="3792957"/>
            <a:ext cx="0" cy="44805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251192" y="4241013"/>
            <a:ext cx="4297680" cy="448056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315200" y="4286733"/>
            <a:ext cx="197510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50" dirty="0" err="1"/>
              <a:t>MedNeXt</a:t>
            </a:r>
            <a:r>
              <a:rPr lang="en-US" sz="1050" dirty="0"/>
              <a:t>-M</a:t>
            </a:r>
          </a:p>
        </p:txBody>
      </p:sp>
      <p:sp>
        <p:nvSpPr>
          <p:cNvPr id="57" name="Text 55"/>
          <p:cNvSpPr/>
          <p:nvPr/>
        </p:nvSpPr>
        <p:spPr>
          <a:xfrm>
            <a:off x="9418320" y="4286733"/>
            <a:ext cx="92354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/>
              <a:t>0.3600</a:t>
            </a:r>
          </a:p>
        </p:txBody>
      </p:sp>
      <p:sp>
        <p:nvSpPr>
          <p:cNvPr id="58" name="Shape 56"/>
          <p:cNvSpPr/>
          <p:nvPr/>
        </p:nvSpPr>
        <p:spPr>
          <a:xfrm>
            <a:off x="9354312" y="4241013"/>
            <a:ext cx="0" cy="44805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469880" y="4286733"/>
            <a:ext cx="92354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/>
              <a:t>0.2356</a:t>
            </a:r>
          </a:p>
        </p:txBody>
      </p:sp>
      <p:sp>
        <p:nvSpPr>
          <p:cNvPr id="60" name="Shape 58"/>
          <p:cNvSpPr/>
          <p:nvPr/>
        </p:nvSpPr>
        <p:spPr>
          <a:xfrm>
            <a:off x="10405872" y="4241013"/>
            <a:ext cx="0" cy="44805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BA219936-75E1-09F6-0CE9-ABD714012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819301"/>
              </p:ext>
            </p:extLst>
          </p:nvPr>
        </p:nvGraphicFramePr>
        <p:xfrm>
          <a:off x="899160" y="5261973"/>
          <a:ext cx="1752600" cy="36957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36815115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2117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ICH teacher cải tiến: stage ICH tốt hơn rõ ràng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292608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  <p:pic>
        <p:nvPicPr>
          <p:cNvPr id="6" name="Image 0" descr="/mnt/data/phe_media/image4.png"/>
          <p:cNvPicPr>
            <a:picLocks noChangeAspect="1"/>
          </p:cNvPicPr>
          <p:nvPr/>
        </p:nvPicPr>
        <p:blipFill>
          <a:blip r:embed="rId3"/>
          <a:srcRect l="2001" t="29517" r="-22414" b="32000"/>
          <a:stretch>
            <a:fillRect/>
          </a:stretch>
        </p:blipFill>
        <p:spPr>
          <a:xfrm>
            <a:off x="615615" y="1547018"/>
            <a:ext cx="5396565" cy="10348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15768"/>
            <a:ext cx="4434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/>
              <a:t>Ca Dice cao: teacher bắt được vùng xuất huyết</a:t>
            </a:r>
          </a:p>
        </p:txBody>
      </p:sp>
      <p:pic>
        <p:nvPicPr>
          <p:cNvPr id="8" name="Image 1" descr="/mnt/data/phe_media/image5.png"/>
          <p:cNvPicPr>
            <a:picLocks noChangeAspect="1"/>
          </p:cNvPicPr>
          <p:nvPr/>
        </p:nvPicPr>
        <p:blipFill>
          <a:blip r:embed="rId4"/>
          <a:srcRect l="2000" t="8000" r="-22414" b="32000"/>
          <a:stretch/>
        </p:blipFill>
        <p:spPr>
          <a:xfrm>
            <a:off x="731520" y="3337560"/>
            <a:ext cx="4434840" cy="1325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4754880"/>
            <a:ext cx="4434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/>
              <a:t>Ca khó: chất lượng teacher vẫn phụ thuộc vị trí &amp; hình thái ICH</a:t>
            </a:r>
          </a:p>
        </p:txBody>
      </p:sp>
      <p:sp>
        <p:nvSpPr>
          <p:cNvPr id="10" name="Shape 6"/>
          <p:cNvSpPr/>
          <p:nvPr/>
        </p:nvSpPr>
        <p:spPr>
          <a:xfrm>
            <a:off x="5806440" y="1481328"/>
            <a:ext cx="4663440" cy="493776"/>
          </a:xfrm>
          <a:prstGeom prst="rect">
            <a:avLst/>
          </a:prstGeom>
          <a:solidFill>
            <a:srgbClr val="EAF3F6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870448" y="1527048"/>
            <a:ext cx="151790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/>
              <a:t>Metric</a:t>
            </a:r>
            <a:endParaRPr lang="en-US" sz="1120" dirty="0"/>
          </a:p>
        </p:txBody>
      </p:sp>
      <p:sp>
        <p:nvSpPr>
          <p:cNvPr id="12" name="Text 8"/>
          <p:cNvSpPr/>
          <p:nvPr/>
        </p:nvSpPr>
        <p:spPr>
          <a:xfrm>
            <a:off x="7516368" y="1527048"/>
            <a:ext cx="128930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/>
              <a:t>Teacher gốc</a:t>
            </a:r>
            <a:endParaRPr lang="en-US" sz="1120" dirty="0"/>
          </a:p>
        </p:txBody>
      </p:sp>
      <p:sp>
        <p:nvSpPr>
          <p:cNvPr id="13" name="Shape 9"/>
          <p:cNvSpPr/>
          <p:nvPr/>
        </p:nvSpPr>
        <p:spPr>
          <a:xfrm>
            <a:off x="7452360" y="1481328"/>
            <a:ext cx="0" cy="49377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933688" y="1527048"/>
            <a:ext cx="147218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/>
              <a:t>Teacher cải tiến</a:t>
            </a:r>
            <a:endParaRPr lang="en-US" sz="1120" dirty="0"/>
          </a:p>
        </p:txBody>
      </p:sp>
      <p:sp>
        <p:nvSpPr>
          <p:cNvPr id="15" name="Shape 11"/>
          <p:cNvSpPr/>
          <p:nvPr/>
        </p:nvSpPr>
        <p:spPr>
          <a:xfrm>
            <a:off x="8869680" y="1481328"/>
            <a:ext cx="0" cy="49377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806440" y="1975104"/>
            <a:ext cx="4663440" cy="493776"/>
          </a:xfrm>
          <a:prstGeom prst="rect">
            <a:avLst/>
          </a:prstGeom>
          <a:solidFill>
            <a:srgbClr val="FBFD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870448" y="2020824"/>
            <a:ext cx="151790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Dice mean</a:t>
            </a:r>
          </a:p>
        </p:txBody>
      </p:sp>
      <p:sp>
        <p:nvSpPr>
          <p:cNvPr id="18" name="Text 14"/>
          <p:cNvSpPr/>
          <p:nvPr/>
        </p:nvSpPr>
        <p:spPr>
          <a:xfrm>
            <a:off x="7516368" y="2020824"/>
            <a:ext cx="128930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0.7330</a:t>
            </a:r>
          </a:p>
        </p:txBody>
      </p:sp>
      <p:sp>
        <p:nvSpPr>
          <p:cNvPr id="19" name="Shape 15"/>
          <p:cNvSpPr/>
          <p:nvPr/>
        </p:nvSpPr>
        <p:spPr>
          <a:xfrm>
            <a:off x="7452360" y="1975104"/>
            <a:ext cx="0" cy="49377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933688" y="2020824"/>
            <a:ext cx="147218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0.7758</a:t>
            </a:r>
          </a:p>
        </p:txBody>
      </p:sp>
      <p:sp>
        <p:nvSpPr>
          <p:cNvPr id="21" name="Shape 17"/>
          <p:cNvSpPr/>
          <p:nvPr/>
        </p:nvSpPr>
        <p:spPr>
          <a:xfrm>
            <a:off x="8869680" y="1975104"/>
            <a:ext cx="0" cy="49377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806440" y="2468880"/>
            <a:ext cx="46634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870448" y="2514600"/>
            <a:ext cx="151790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IoU/Jaccard</a:t>
            </a:r>
          </a:p>
        </p:txBody>
      </p:sp>
      <p:sp>
        <p:nvSpPr>
          <p:cNvPr id="24" name="Text 20"/>
          <p:cNvSpPr/>
          <p:nvPr/>
        </p:nvSpPr>
        <p:spPr>
          <a:xfrm>
            <a:off x="7516368" y="2514600"/>
            <a:ext cx="128930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0.6211</a:t>
            </a:r>
          </a:p>
        </p:txBody>
      </p:sp>
      <p:sp>
        <p:nvSpPr>
          <p:cNvPr id="25" name="Shape 21"/>
          <p:cNvSpPr/>
          <p:nvPr/>
        </p:nvSpPr>
        <p:spPr>
          <a:xfrm>
            <a:off x="7452360" y="2468880"/>
            <a:ext cx="0" cy="49377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8933688" y="2514600"/>
            <a:ext cx="147218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0.6644</a:t>
            </a:r>
          </a:p>
        </p:txBody>
      </p:sp>
      <p:sp>
        <p:nvSpPr>
          <p:cNvPr id="27" name="Shape 23"/>
          <p:cNvSpPr/>
          <p:nvPr/>
        </p:nvSpPr>
        <p:spPr>
          <a:xfrm>
            <a:off x="8869680" y="2468880"/>
            <a:ext cx="0" cy="49377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5806440" y="2962656"/>
            <a:ext cx="4663440" cy="493776"/>
          </a:xfrm>
          <a:prstGeom prst="rect">
            <a:avLst/>
          </a:prstGeom>
          <a:solidFill>
            <a:srgbClr val="FBFD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870448" y="3008376"/>
            <a:ext cx="151790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Precision</a:t>
            </a:r>
          </a:p>
        </p:txBody>
      </p:sp>
      <p:sp>
        <p:nvSpPr>
          <p:cNvPr id="30" name="Text 26"/>
          <p:cNvSpPr/>
          <p:nvPr/>
        </p:nvSpPr>
        <p:spPr>
          <a:xfrm>
            <a:off x="7516368" y="3008376"/>
            <a:ext cx="128930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0.7562</a:t>
            </a:r>
          </a:p>
        </p:txBody>
      </p:sp>
      <p:sp>
        <p:nvSpPr>
          <p:cNvPr id="31" name="Shape 27"/>
          <p:cNvSpPr/>
          <p:nvPr/>
        </p:nvSpPr>
        <p:spPr>
          <a:xfrm>
            <a:off x="7452360" y="2962656"/>
            <a:ext cx="0" cy="49377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8933688" y="3008376"/>
            <a:ext cx="147218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0.8107</a:t>
            </a:r>
          </a:p>
        </p:txBody>
      </p:sp>
      <p:sp>
        <p:nvSpPr>
          <p:cNvPr id="33" name="Shape 29"/>
          <p:cNvSpPr/>
          <p:nvPr/>
        </p:nvSpPr>
        <p:spPr>
          <a:xfrm>
            <a:off x="8869680" y="2962656"/>
            <a:ext cx="0" cy="49377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5806440" y="3456432"/>
            <a:ext cx="46634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5870448" y="3502152"/>
            <a:ext cx="151790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Volume abs error</a:t>
            </a:r>
          </a:p>
        </p:txBody>
      </p:sp>
      <p:sp>
        <p:nvSpPr>
          <p:cNvPr id="36" name="Text 32"/>
          <p:cNvSpPr/>
          <p:nvPr/>
        </p:nvSpPr>
        <p:spPr>
          <a:xfrm>
            <a:off x="7516368" y="3502152"/>
            <a:ext cx="128930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4.117 ml</a:t>
            </a:r>
          </a:p>
        </p:txBody>
      </p:sp>
      <p:sp>
        <p:nvSpPr>
          <p:cNvPr id="37" name="Shape 33"/>
          <p:cNvSpPr/>
          <p:nvPr/>
        </p:nvSpPr>
        <p:spPr>
          <a:xfrm>
            <a:off x="7452360" y="3456432"/>
            <a:ext cx="0" cy="49377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8933688" y="3502152"/>
            <a:ext cx="147218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/>
              <a:t>3.141 ml</a:t>
            </a:r>
          </a:p>
        </p:txBody>
      </p:sp>
      <p:sp>
        <p:nvSpPr>
          <p:cNvPr id="39" name="Shape 35"/>
          <p:cNvSpPr/>
          <p:nvPr/>
        </p:nvSpPr>
        <p:spPr>
          <a:xfrm>
            <a:off x="8869680" y="3456432"/>
            <a:ext cx="0" cy="493776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5989320" y="4315968"/>
            <a:ext cx="45720" cy="73152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6153912" y="4315968"/>
            <a:ext cx="4224528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/>
              <a:t>Cải thiện teacher là có thật, nhưng câu hỏi chính là cải thiện này có chuyển hóa sang PHE downstream hay không.</a:t>
            </a:r>
            <a:endParaRPr lang="en-US" sz="1800" dirty="0"/>
          </a:p>
        </p:txBody>
      </p:sp>
      <p:sp>
        <p:nvSpPr>
          <p:cNvPr id="42" name="Text 38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PHE downstream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292608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6583680" cy="655320"/>
          </a:xfrm>
          <a:prstGeom prst="rect">
            <a:avLst/>
          </a:prstGeom>
          <a:solidFill>
            <a:srgbClr val="EAF3F6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463040"/>
            <a:ext cx="128930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/>
              <a:t>Thiết lập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167128" y="1463040"/>
            <a:ext cx="60350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/>
              <a:t>Dice mean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103120" y="141732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98648" y="1463040"/>
            <a:ext cx="55778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/>
              <a:t>IoU mean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2834640" y="141732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84448" y="1463040"/>
            <a:ext cx="362102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/>
              <a:t>Ý nghĩa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520440" y="141732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5800" y="2072640"/>
            <a:ext cx="6583680" cy="655320"/>
          </a:xfrm>
          <a:prstGeom prst="rect">
            <a:avLst/>
          </a:prstGeom>
          <a:solidFill>
            <a:srgbClr val="FBFD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" y="2118360"/>
            <a:ext cx="128930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CT-only</a:t>
            </a:r>
          </a:p>
        </p:txBody>
      </p:sp>
      <p:sp>
        <p:nvSpPr>
          <p:cNvPr id="16" name="Text 14"/>
          <p:cNvSpPr/>
          <p:nvPr/>
        </p:nvSpPr>
        <p:spPr>
          <a:xfrm>
            <a:off x="2167128" y="2118360"/>
            <a:ext cx="60350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0.3941</a:t>
            </a:r>
          </a:p>
        </p:txBody>
      </p:sp>
      <p:sp>
        <p:nvSpPr>
          <p:cNvPr id="17" name="Shape 15"/>
          <p:cNvSpPr/>
          <p:nvPr/>
        </p:nvSpPr>
        <p:spPr>
          <a:xfrm>
            <a:off x="2103120" y="207264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98648" y="2118360"/>
            <a:ext cx="55778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0.2710</a:t>
            </a:r>
          </a:p>
        </p:txBody>
      </p:sp>
      <p:sp>
        <p:nvSpPr>
          <p:cNvPr id="19" name="Shape 17"/>
          <p:cNvSpPr/>
          <p:nvPr/>
        </p:nvSpPr>
        <p:spPr>
          <a:xfrm>
            <a:off x="2834640" y="207264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84448" y="2118360"/>
            <a:ext cx="362102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Mốc PHE-only chính</a:t>
            </a:r>
          </a:p>
        </p:txBody>
      </p:sp>
      <p:sp>
        <p:nvSpPr>
          <p:cNvPr id="21" name="Shape 19"/>
          <p:cNvSpPr/>
          <p:nvPr/>
        </p:nvSpPr>
        <p:spPr>
          <a:xfrm>
            <a:off x="3520440" y="207264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" y="2727960"/>
            <a:ext cx="6583680" cy="655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" y="2773680"/>
            <a:ext cx="128930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Teacher-prior</a:t>
            </a:r>
          </a:p>
        </p:txBody>
      </p:sp>
      <p:sp>
        <p:nvSpPr>
          <p:cNvPr id="24" name="Text 22"/>
          <p:cNvSpPr/>
          <p:nvPr/>
        </p:nvSpPr>
        <p:spPr>
          <a:xfrm>
            <a:off x="2167128" y="2773680"/>
            <a:ext cx="60350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0.3999</a:t>
            </a:r>
          </a:p>
        </p:txBody>
      </p:sp>
      <p:sp>
        <p:nvSpPr>
          <p:cNvPr id="25" name="Shape 23"/>
          <p:cNvSpPr/>
          <p:nvPr/>
        </p:nvSpPr>
        <p:spPr>
          <a:xfrm>
            <a:off x="2103120" y="272796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98648" y="2773680"/>
            <a:ext cx="55778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0.2750</a:t>
            </a:r>
          </a:p>
        </p:txBody>
      </p:sp>
      <p:sp>
        <p:nvSpPr>
          <p:cNvPr id="27" name="Shape 25"/>
          <p:cNvSpPr/>
          <p:nvPr/>
        </p:nvSpPr>
        <p:spPr>
          <a:xfrm>
            <a:off x="2834640" y="272796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84448" y="2773680"/>
            <a:ext cx="362102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Median tăng, FP tăng</a:t>
            </a:r>
          </a:p>
        </p:txBody>
      </p:sp>
      <p:sp>
        <p:nvSpPr>
          <p:cNvPr id="29" name="Shape 27"/>
          <p:cNvSpPr/>
          <p:nvPr/>
        </p:nvSpPr>
        <p:spPr>
          <a:xfrm>
            <a:off x="3520440" y="272796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5800" y="3383280"/>
            <a:ext cx="6583680" cy="655320"/>
          </a:xfrm>
          <a:prstGeom prst="rect">
            <a:avLst/>
          </a:prstGeom>
          <a:solidFill>
            <a:srgbClr val="FBFD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9808" y="3429000"/>
            <a:ext cx="128930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Teacher-prior cải tiến</a:t>
            </a:r>
          </a:p>
        </p:txBody>
      </p:sp>
      <p:sp>
        <p:nvSpPr>
          <p:cNvPr id="32" name="Text 30"/>
          <p:cNvSpPr/>
          <p:nvPr/>
        </p:nvSpPr>
        <p:spPr>
          <a:xfrm>
            <a:off x="2167128" y="3429000"/>
            <a:ext cx="60350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0.3974</a:t>
            </a:r>
          </a:p>
        </p:txBody>
      </p:sp>
      <p:sp>
        <p:nvSpPr>
          <p:cNvPr id="33" name="Shape 31"/>
          <p:cNvSpPr/>
          <p:nvPr/>
        </p:nvSpPr>
        <p:spPr>
          <a:xfrm>
            <a:off x="2103120" y="338328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898648" y="3429000"/>
            <a:ext cx="55778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0.2686</a:t>
            </a:r>
          </a:p>
        </p:txBody>
      </p:sp>
      <p:sp>
        <p:nvSpPr>
          <p:cNvPr id="35" name="Shape 33"/>
          <p:cNvSpPr/>
          <p:nvPr/>
        </p:nvSpPr>
        <p:spPr>
          <a:xfrm>
            <a:off x="2834640" y="338328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84448" y="3429000"/>
            <a:ext cx="362102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Teacher tốt hơn nhưng PHE chưa tăng</a:t>
            </a:r>
          </a:p>
        </p:txBody>
      </p:sp>
      <p:sp>
        <p:nvSpPr>
          <p:cNvPr id="37" name="Shape 35"/>
          <p:cNvSpPr/>
          <p:nvPr/>
        </p:nvSpPr>
        <p:spPr>
          <a:xfrm>
            <a:off x="3520440" y="338328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85800" y="4038600"/>
            <a:ext cx="6583680" cy="655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9808" y="4084320"/>
            <a:ext cx="128930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Pseudo-prior</a:t>
            </a:r>
          </a:p>
        </p:txBody>
      </p:sp>
      <p:sp>
        <p:nvSpPr>
          <p:cNvPr id="40" name="Text 38"/>
          <p:cNvSpPr/>
          <p:nvPr/>
        </p:nvSpPr>
        <p:spPr>
          <a:xfrm>
            <a:off x="2167128" y="4084320"/>
            <a:ext cx="60350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0.3995</a:t>
            </a:r>
          </a:p>
        </p:txBody>
      </p:sp>
      <p:sp>
        <p:nvSpPr>
          <p:cNvPr id="41" name="Shape 39"/>
          <p:cNvSpPr/>
          <p:nvPr/>
        </p:nvSpPr>
        <p:spPr>
          <a:xfrm>
            <a:off x="2103120" y="403860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898648" y="4084320"/>
            <a:ext cx="55778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0.2725</a:t>
            </a:r>
          </a:p>
        </p:txBody>
      </p:sp>
      <p:sp>
        <p:nvSpPr>
          <p:cNvPr id="43" name="Shape 41"/>
          <p:cNvSpPr/>
          <p:nvPr/>
        </p:nvSpPr>
        <p:spPr>
          <a:xfrm>
            <a:off x="2834640" y="403860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584448" y="4084320"/>
            <a:ext cx="362102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Tương đương teacher-prior</a:t>
            </a:r>
          </a:p>
        </p:txBody>
      </p:sp>
      <p:sp>
        <p:nvSpPr>
          <p:cNvPr id="45" name="Shape 43"/>
          <p:cNvSpPr/>
          <p:nvPr/>
        </p:nvSpPr>
        <p:spPr>
          <a:xfrm>
            <a:off x="3520440" y="403860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85800" y="4693920"/>
            <a:ext cx="6583680" cy="655320"/>
          </a:xfrm>
          <a:prstGeom prst="rect">
            <a:avLst/>
          </a:prstGeom>
          <a:solidFill>
            <a:srgbClr val="FBFD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49808" y="4739640"/>
            <a:ext cx="128930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Pseudo-prior cải tiến</a:t>
            </a:r>
          </a:p>
        </p:txBody>
      </p:sp>
      <p:sp>
        <p:nvSpPr>
          <p:cNvPr id="48" name="Text 46"/>
          <p:cNvSpPr/>
          <p:nvPr/>
        </p:nvSpPr>
        <p:spPr>
          <a:xfrm>
            <a:off x="2167128" y="4739640"/>
            <a:ext cx="60350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0.3978</a:t>
            </a:r>
          </a:p>
        </p:txBody>
      </p:sp>
      <p:sp>
        <p:nvSpPr>
          <p:cNvPr id="49" name="Shape 47"/>
          <p:cNvSpPr/>
          <p:nvPr/>
        </p:nvSpPr>
        <p:spPr>
          <a:xfrm>
            <a:off x="2103120" y="469392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898648" y="4739640"/>
            <a:ext cx="55778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0.2769</a:t>
            </a:r>
          </a:p>
        </p:txBody>
      </p:sp>
      <p:sp>
        <p:nvSpPr>
          <p:cNvPr id="51" name="Shape 49"/>
          <p:cNvSpPr/>
          <p:nvPr/>
        </p:nvSpPr>
        <p:spPr>
          <a:xfrm>
            <a:off x="2834640" y="469392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584448" y="4739640"/>
            <a:ext cx="3621024" cy="582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/>
              <a:t>IoU tốt hơn, nhưng FP cao</a:t>
            </a:r>
          </a:p>
        </p:txBody>
      </p:sp>
      <p:sp>
        <p:nvSpPr>
          <p:cNvPr id="53" name="Shape 51"/>
          <p:cNvSpPr/>
          <p:nvPr/>
        </p:nvSpPr>
        <p:spPr>
          <a:xfrm>
            <a:off x="3520440" y="4693920"/>
            <a:ext cx="0" cy="65532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543800" y="14173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/>
              <a:t>Dice mean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7543800" y="186537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CT-only</a:t>
            </a:r>
          </a:p>
        </p:txBody>
      </p:sp>
      <p:sp>
        <p:nvSpPr>
          <p:cNvPr id="56" name="Shape 54"/>
          <p:cNvSpPr/>
          <p:nvPr/>
        </p:nvSpPr>
        <p:spPr>
          <a:xfrm>
            <a:off x="8869680" y="1911096"/>
            <a:ext cx="226771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869680" y="1911096"/>
            <a:ext cx="2127870" cy="91440"/>
          </a:xfrm>
          <a:prstGeom prst="rect">
            <a:avLst/>
          </a:prstGeom>
          <a:solidFill>
            <a:srgbClr val="5B9279"/>
          </a:solidFill>
          <a:ln w="12700">
            <a:solidFill>
              <a:srgbClr val="5B92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1173968" y="184708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0.394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7543800" y="218175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Teacher</a:t>
            </a:r>
          </a:p>
        </p:txBody>
      </p:sp>
      <p:sp>
        <p:nvSpPr>
          <p:cNvPr id="60" name="Shape 58"/>
          <p:cNvSpPr/>
          <p:nvPr/>
        </p:nvSpPr>
        <p:spPr>
          <a:xfrm>
            <a:off x="8869680" y="2227478"/>
            <a:ext cx="226771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869680" y="2227478"/>
            <a:ext cx="2159186" cy="91440"/>
          </a:xfrm>
          <a:prstGeom prst="rect">
            <a:avLst/>
          </a:prstGeom>
          <a:solidFill>
            <a:srgbClr val="5B9279"/>
          </a:solidFill>
          <a:ln w="12700">
            <a:solidFill>
              <a:srgbClr val="5B92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1173968" y="216347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0.400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7543800" y="2498141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Teacher+</a:t>
            </a:r>
          </a:p>
        </p:txBody>
      </p:sp>
      <p:sp>
        <p:nvSpPr>
          <p:cNvPr id="64" name="Shape 62"/>
          <p:cNvSpPr/>
          <p:nvPr/>
        </p:nvSpPr>
        <p:spPr>
          <a:xfrm>
            <a:off x="8869680" y="2543861"/>
            <a:ext cx="226771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869680" y="2543861"/>
            <a:ext cx="2145687" cy="91440"/>
          </a:xfrm>
          <a:prstGeom prst="rect">
            <a:avLst/>
          </a:prstGeom>
          <a:solidFill>
            <a:srgbClr val="5B9279"/>
          </a:solidFill>
          <a:ln w="12700">
            <a:solidFill>
              <a:srgbClr val="5B92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1173968" y="2479853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0.397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7543800" y="2814523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Pseudo</a:t>
            </a:r>
          </a:p>
        </p:txBody>
      </p:sp>
      <p:sp>
        <p:nvSpPr>
          <p:cNvPr id="68" name="Shape 66"/>
          <p:cNvSpPr/>
          <p:nvPr/>
        </p:nvSpPr>
        <p:spPr>
          <a:xfrm>
            <a:off x="8869680" y="2860243"/>
            <a:ext cx="226771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8869680" y="2860243"/>
            <a:ext cx="2157026" cy="91440"/>
          </a:xfrm>
          <a:prstGeom prst="rect">
            <a:avLst/>
          </a:prstGeom>
          <a:solidFill>
            <a:srgbClr val="5B9279"/>
          </a:solidFill>
          <a:ln w="12700">
            <a:solidFill>
              <a:srgbClr val="5B92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1173968" y="2796235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0.400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7543800" y="313090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Pseudo+</a:t>
            </a:r>
          </a:p>
        </p:txBody>
      </p:sp>
      <p:sp>
        <p:nvSpPr>
          <p:cNvPr id="72" name="Shape 70"/>
          <p:cNvSpPr/>
          <p:nvPr/>
        </p:nvSpPr>
        <p:spPr>
          <a:xfrm>
            <a:off x="8869680" y="3176626"/>
            <a:ext cx="226771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869680" y="3176626"/>
            <a:ext cx="2147847" cy="91440"/>
          </a:xfrm>
          <a:prstGeom prst="rect">
            <a:avLst/>
          </a:prstGeom>
          <a:solidFill>
            <a:srgbClr val="5B9279"/>
          </a:solidFill>
          <a:ln w="12700">
            <a:solidFill>
              <a:srgbClr val="5B92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1173968" y="311261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0.398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7543800" y="37947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/>
              <a:t>IoU mean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7543800" y="424281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CT-only</a:t>
            </a:r>
          </a:p>
        </p:txBody>
      </p:sp>
      <p:sp>
        <p:nvSpPr>
          <p:cNvPr id="77" name="Shape 75"/>
          <p:cNvSpPr/>
          <p:nvPr/>
        </p:nvSpPr>
        <p:spPr>
          <a:xfrm>
            <a:off x="8869680" y="4288536"/>
            <a:ext cx="226771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869680" y="4288536"/>
            <a:ext cx="2048500" cy="9144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1173968" y="422452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0.271</a:t>
            </a:r>
            <a:endParaRPr lang="en-US" sz="820" dirty="0"/>
          </a:p>
        </p:txBody>
      </p:sp>
      <p:sp>
        <p:nvSpPr>
          <p:cNvPr id="80" name="Text 78"/>
          <p:cNvSpPr/>
          <p:nvPr/>
        </p:nvSpPr>
        <p:spPr>
          <a:xfrm>
            <a:off x="7543800" y="454091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Teacher</a:t>
            </a:r>
          </a:p>
        </p:txBody>
      </p:sp>
      <p:sp>
        <p:nvSpPr>
          <p:cNvPr id="81" name="Shape 79"/>
          <p:cNvSpPr/>
          <p:nvPr/>
        </p:nvSpPr>
        <p:spPr>
          <a:xfrm>
            <a:off x="8869680" y="4586630"/>
            <a:ext cx="226771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8869680" y="4586630"/>
            <a:ext cx="2078736" cy="9144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11173968" y="452262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0.275</a:t>
            </a:r>
            <a:endParaRPr lang="en-US" sz="820" dirty="0"/>
          </a:p>
        </p:txBody>
      </p:sp>
      <p:sp>
        <p:nvSpPr>
          <p:cNvPr id="84" name="Text 82"/>
          <p:cNvSpPr/>
          <p:nvPr/>
        </p:nvSpPr>
        <p:spPr>
          <a:xfrm>
            <a:off x="7543800" y="4839005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Teacher+</a:t>
            </a:r>
          </a:p>
        </p:txBody>
      </p:sp>
      <p:sp>
        <p:nvSpPr>
          <p:cNvPr id="85" name="Shape 83"/>
          <p:cNvSpPr/>
          <p:nvPr/>
        </p:nvSpPr>
        <p:spPr>
          <a:xfrm>
            <a:off x="8869680" y="4884725"/>
            <a:ext cx="226771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869680" y="4884725"/>
            <a:ext cx="2030358" cy="9144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11173968" y="4820717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0.269</a:t>
            </a:r>
            <a:endParaRPr lang="en-US" sz="820" dirty="0"/>
          </a:p>
        </p:txBody>
      </p:sp>
      <p:sp>
        <p:nvSpPr>
          <p:cNvPr id="88" name="Text 86"/>
          <p:cNvSpPr/>
          <p:nvPr/>
        </p:nvSpPr>
        <p:spPr>
          <a:xfrm>
            <a:off x="7543800" y="5137099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Pseudo</a:t>
            </a:r>
          </a:p>
        </p:txBody>
      </p:sp>
      <p:sp>
        <p:nvSpPr>
          <p:cNvPr id="89" name="Shape 87"/>
          <p:cNvSpPr/>
          <p:nvPr/>
        </p:nvSpPr>
        <p:spPr>
          <a:xfrm>
            <a:off x="8869680" y="5182819"/>
            <a:ext cx="226771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8869680" y="5182819"/>
            <a:ext cx="2059838" cy="9144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1173968" y="5118811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0.273</a:t>
            </a:r>
            <a:endParaRPr lang="en-US" sz="820" dirty="0"/>
          </a:p>
        </p:txBody>
      </p:sp>
      <p:sp>
        <p:nvSpPr>
          <p:cNvPr id="92" name="Text 90"/>
          <p:cNvSpPr/>
          <p:nvPr/>
        </p:nvSpPr>
        <p:spPr>
          <a:xfrm>
            <a:off x="7543800" y="543519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/>
              <a:t>Pseudo+</a:t>
            </a:r>
          </a:p>
        </p:txBody>
      </p:sp>
      <p:sp>
        <p:nvSpPr>
          <p:cNvPr id="93" name="Shape 91"/>
          <p:cNvSpPr/>
          <p:nvPr/>
        </p:nvSpPr>
        <p:spPr>
          <a:xfrm>
            <a:off x="8869680" y="5480914"/>
            <a:ext cx="2267712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8869680" y="5480914"/>
            <a:ext cx="2093098" cy="9144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11173968" y="541690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0.277</a:t>
            </a:r>
            <a:endParaRPr lang="en-US" sz="820" dirty="0"/>
          </a:p>
        </p:txBody>
      </p:sp>
      <p:sp>
        <p:nvSpPr>
          <p:cNvPr id="96" name="Text 94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Phân tích lỗi: prior có thể tăng TP nhưng kéo theo FP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292608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6035040" cy="640080"/>
          </a:xfrm>
          <a:prstGeom prst="rect">
            <a:avLst/>
          </a:prstGeom>
          <a:solidFill>
            <a:srgbClr val="EAF3F6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417320"/>
            <a:ext cx="147218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334155"/>
                </a:solidFill>
              </a:rPr>
              <a:t>Thiết lập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350008" y="141732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334155"/>
                </a:solidFill>
              </a:rPr>
              <a:t>FP mean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286000" y="137160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72968" y="141732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334155"/>
                </a:solidFill>
              </a:rPr>
              <a:t>FN mean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3108960" y="137160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95928" y="141732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334155"/>
                </a:solidFill>
              </a:rPr>
              <a:t>TP mean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931920" y="137160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8888" y="1417320"/>
            <a:ext cx="1837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334155"/>
                </a:solidFill>
              </a:rPr>
              <a:t>Diễn giải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2011680"/>
            <a:ext cx="6035040" cy="640080"/>
          </a:xfrm>
          <a:prstGeom prst="rect">
            <a:avLst/>
          </a:prstGeom>
          <a:solidFill>
            <a:srgbClr val="FBFD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2057400"/>
            <a:ext cx="147218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CT-only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2350008" y="205740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1455.2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286000" y="201168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72968" y="205740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1127.2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3108960" y="201168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95928" y="205740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1324.8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3931920" y="201168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18888" y="2057400"/>
            <a:ext cx="1837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Cân bằng hơn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754880" y="201168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5800" y="2651760"/>
            <a:ext cx="603504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" y="2697480"/>
            <a:ext cx="147218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Teacher-prior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2350008" y="269748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1876.0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2286000" y="265176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172968" y="269748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1033.5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3108960" y="265176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995928" y="269748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1418.5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3931920" y="265176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18888" y="2697480"/>
            <a:ext cx="1837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FP tăng vừa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4754880" y="265176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85800" y="3291840"/>
            <a:ext cx="6035040" cy="640080"/>
          </a:xfrm>
          <a:prstGeom prst="rect">
            <a:avLst/>
          </a:prstGeom>
          <a:solidFill>
            <a:srgbClr val="FBFD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49808" y="3337560"/>
            <a:ext cx="147218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Teacher-prior cải tiến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2350008" y="333756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1513.8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2286000" y="329184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172968" y="333756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1196.4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3108960" y="329184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995928" y="333756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1255.6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3931920" y="329184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18888" y="3337560"/>
            <a:ext cx="1837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Bảo thủ hơn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4754880" y="329184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85800" y="3931920"/>
            <a:ext cx="603504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49808" y="3977640"/>
            <a:ext cx="147218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Pseudo-prior</a:t>
            </a:r>
            <a:endParaRPr lang="en-US" sz="960" dirty="0"/>
          </a:p>
        </p:txBody>
      </p:sp>
      <p:sp>
        <p:nvSpPr>
          <p:cNvPr id="48" name="Text 46"/>
          <p:cNvSpPr/>
          <p:nvPr/>
        </p:nvSpPr>
        <p:spPr>
          <a:xfrm>
            <a:off x="2350008" y="397764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1354.5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2286000" y="393192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172968" y="397764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1157.5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3108960" y="393192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995928" y="397764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1294.5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3931920" y="393192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18888" y="3977640"/>
            <a:ext cx="1837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Cân bằng hơn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4754880" y="393192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85800" y="4572000"/>
            <a:ext cx="6035040" cy="640080"/>
          </a:xfrm>
          <a:prstGeom prst="rect">
            <a:avLst/>
          </a:prstGeom>
          <a:solidFill>
            <a:srgbClr val="FBFD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49808" y="4617720"/>
            <a:ext cx="147218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Pseudo-prior cải tiến</a:t>
            </a:r>
            <a:endParaRPr lang="en-US" sz="960" dirty="0"/>
          </a:p>
        </p:txBody>
      </p:sp>
      <p:sp>
        <p:nvSpPr>
          <p:cNvPr id="58" name="Text 56"/>
          <p:cNvSpPr/>
          <p:nvPr/>
        </p:nvSpPr>
        <p:spPr>
          <a:xfrm>
            <a:off x="2350008" y="461772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2324.5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2286000" y="457200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172968" y="461772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899.9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3108960" y="457200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995928" y="4617720"/>
            <a:ext cx="694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1552.1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3931920" y="457200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818888" y="4617720"/>
            <a:ext cx="18379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FP cao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4754880" y="4572000"/>
            <a:ext cx="0" cy="640080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0" descr="/mnt/data/phe_media/image10.png"/>
          <p:cNvPicPr>
            <a:picLocks noChangeAspect="1"/>
          </p:cNvPicPr>
          <p:nvPr/>
        </p:nvPicPr>
        <p:blipFill>
          <a:blip r:embed="rId3"/>
          <a:srcRect l="5000" t="8000" r="17115" b="14000"/>
          <a:stretch/>
        </p:blipFill>
        <p:spPr>
          <a:xfrm>
            <a:off x="7086600" y="1417320"/>
            <a:ext cx="4434840" cy="2560320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7178040" y="425196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202B"/>
                </a:solidFill>
              </a:rPr>
              <a:t>Tăng TP không đủ: nếu FP tăng mạnh, Dice/IoU vẫn không cải thiện rõ.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7178040" y="4828032"/>
            <a:ext cx="416052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Đọc FP/FN/TP giúp phân biệt mô hình “bắt được nhiều tổn thương hơn” với mô hình “lan rộng quá mức”.</a:t>
            </a:r>
            <a:endParaRPr lang="en-US" sz="1220" dirty="0"/>
          </a:p>
        </p:txBody>
      </p:sp>
      <p:sp>
        <p:nvSpPr>
          <p:cNvPr id="69" name="Text 66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Theo từng bệnh nhân: chênh lệch Dice rất lớn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292608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995160" y="150876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04888" y="161848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/>
              <a:t>0.732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04888" y="201168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dirty="0"/>
              <a:t>case tốt nhất: phe_0084</a:t>
            </a:r>
          </a:p>
        </p:txBody>
      </p:sp>
      <p:sp>
        <p:nvSpPr>
          <p:cNvPr id="10" name="Shape 7"/>
          <p:cNvSpPr/>
          <p:nvPr/>
        </p:nvSpPr>
        <p:spPr>
          <a:xfrm>
            <a:off x="8915400" y="150876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025128" y="161848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/>
              <a:t>0.000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025128" y="201168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dirty="0"/>
              <a:t>case khó nhất: phe_0167</a:t>
            </a:r>
          </a:p>
        </p:txBody>
      </p:sp>
      <p:sp>
        <p:nvSpPr>
          <p:cNvPr id="13" name="Shape 10"/>
          <p:cNvSpPr/>
          <p:nvPr/>
        </p:nvSpPr>
        <p:spPr>
          <a:xfrm>
            <a:off x="6995160" y="27432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04888" y="2852928"/>
            <a:ext cx="3346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/>
              <a:t>1.000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04888" y="3246120"/>
            <a:ext cx="33467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/>
              <a:t>detection sensitivity ở ngưỡng 0.5 ml</a:t>
            </a:r>
          </a:p>
        </p:txBody>
      </p:sp>
      <p:sp>
        <p:nvSpPr>
          <p:cNvPr id="16" name="Shape 13"/>
          <p:cNvSpPr/>
          <p:nvPr/>
        </p:nvSpPr>
        <p:spPr>
          <a:xfrm>
            <a:off x="6903720" y="4160520"/>
            <a:ext cx="45720" cy="68580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068312" y="4160520"/>
            <a:ext cx="404164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/>
              <a:t>Một số ca đạt Dice &gt; 0.6, nhưng các ca nhỏ/khó kéo giảm trung bình chung.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949440" y="5166360"/>
            <a:ext cx="416052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dirty="0"/>
              <a:t>Hậu xử lý cần thận trọng: rule xóa nhiễu có thể làm mất PHE nhỏ, nên raw output được dùng làm kết quả chính khi so sánh.</a:t>
            </a:r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3F0CDFA-8F07-5BA0-D0CB-1E83B76BA4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0" r="3297"/>
          <a:stretch>
            <a:fillRect/>
          </a:stretch>
        </p:blipFill>
        <p:spPr>
          <a:xfrm>
            <a:off x="241248" y="1558528"/>
            <a:ext cx="6543600" cy="40152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Diễn giải khoa học &amp; hướng cải thiện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292608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7315200" cy="886968"/>
          </a:xfrm>
          <a:prstGeom prst="rect">
            <a:avLst/>
          </a:prstGeom>
          <a:solidFill>
            <a:srgbClr val="EAF3F6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463040"/>
            <a:ext cx="1700784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334155"/>
                </a:solidFill>
              </a:rPr>
              <a:t>Nhận định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2578608" y="1463040"/>
            <a:ext cx="2432304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334155"/>
                </a:solidFill>
              </a:rPr>
              <a:t>Bằng chứng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0" cy="886968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38928" y="1463040"/>
            <a:ext cx="2798064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334155"/>
                </a:solidFill>
              </a:rPr>
              <a:t>Hướng xử lý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074920" y="1417320"/>
            <a:ext cx="0" cy="886968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2304288"/>
            <a:ext cx="7315200" cy="886968"/>
          </a:xfrm>
          <a:prstGeom prst="rect">
            <a:avLst/>
          </a:prstGeom>
          <a:solidFill>
            <a:srgbClr val="FBFD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350008"/>
            <a:ext cx="1700784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Dữ liệu nhỏ và split nhạy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2578608" y="2350008"/>
            <a:ext cx="2432304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Test chỉ 11 ca; Dice biến thiên mạnh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514600" y="2304288"/>
            <a:ext cx="0" cy="886968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38928" y="2350008"/>
            <a:ext cx="2798064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k-fold hoặc external validation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074920" y="2304288"/>
            <a:ext cx="0" cy="886968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3191256"/>
            <a:ext cx="7315200" cy="8869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3236976"/>
            <a:ext cx="1700784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Prior gây over-segmentation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2578608" y="3236976"/>
            <a:ext cx="2432304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Pseudo-prior cải tiến tăng TP nhưng FP cao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2514600" y="3191256"/>
            <a:ext cx="0" cy="886968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38928" y="3236976"/>
            <a:ext cx="2798064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Threshold/loss phạt FP; tuning trên validation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5074920" y="3191256"/>
            <a:ext cx="0" cy="886968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" y="4078224"/>
            <a:ext cx="7315200" cy="886968"/>
          </a:xfrm>
          <a:prstGeom prst="rect">
            <a:avLst/>
          </a:prstGeom>
          <a:solidFill>
            <a:srgbClr val="FBFD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" y="4123944"/>
            <a:ext cx="1700784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Teacher tốt hơn nhưng downstream chưa tốt hơn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2578608" y="4123944"/>
            <a:ext cx="2432304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ICH teacher cải tiến không kéo PHE Dice tăng rõ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2514600" y="4078224"/>
            <a:ext cx="0" cy="886968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38928" y="4123944"/>
            <a:ext cx="2798064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Thiết kế ring/distance prior quanh ICH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074920" y="4078224"/>
            <a:ext cx="0" cy="886968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5800" y="4965192"/>
            <a:ext cx="7315200" cy="8869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9808" y="5010912"/>
            <a:ext cx="1700784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Postprocess làm mất PHE nhỏ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2578608" y="5010912"/>
            <a:ext cx="2432304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Một số rule làm median Dice giảm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2514600" y="4965192"/>
            <a:ext cx="0" cy="886968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38928" y="5010912"/>
            <a:ext cx="2798064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Tách rule cho PHE nhỏ hoặc học postprocess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5074920" y="4965192"/>
            <a:ext cx="0" cy="886968"/>
          </a:xfrm>
          <a:prstGeom prst="line">
            <a:avLst/>
          </a:prstGeom>
          <a:noFill/>
          <a:ln w="762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549640" y="1554480"/>
            <a:ext cx="45720" cy="4160520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778240" y="15727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/>
              <a:t>Bottleneck chính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778240" y="20574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20" b="1" dirty="0"/>
              <a:t>Không phải chỉ là chất lượng ICH teacher, mà là cách chuyển thông tin ICH thành prior phù hợp cho PHE.</a:t>
            </a:r>
            <a:endParaRPr lang="en-US" sz="1520" dirty="0"/>
          </a:p>
        </p:txBody>
      </p:sp>
      <p:sp>
        <p:nvSpPr>
          <p:cNvPr id="39" name="Text 37"/>
          <p:cNvSpPr/>
          <p:nvPr/>
        </p:nvSpPr>
        <p:spPr>
          <a:xfrm>
            <a:off x="8778240" y="36576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/>
              <a:t>Prior nên nhấn mạnh vùng quanh máu tụ, không khiến mô hình học lại chính vùng xuất huyết.</a:t>
            </a:r>
          </a:p>
        </p:txBody>
      </p:sp>
      <p:sp>
        <p:nvSpPr>
          <p:cNvPr id="40" name="Text 38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luận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292608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778507"/>
            <a:ext cx="320040" cy="320040"/>
          </a:xfrm>
          <a:prstGeom prst="rect">
            <a:avLst/>
          </a:prstGeom>
          <a:solidFill>
            <a:srgbClr val="256D85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760219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334155"/>
                </a:solidFill>
              </a:rPr>
              <a:t>nnU-Net CT-only là baseline mạnh và ổn định trong phạm vi dữ liệu hiện tại.</a:t>
            </a:r>
            <a:endParaRPr lang="en-US" sz="1360" dirty="0"/>
          </a:p>
        </p:txBody>
      </p:sp>
      <p:sp>
        <p:nvSpPr>
          <p:cNvPr id="10" name="Text 8"/>
          <p:cNvSpPr/>
          <p:nvPr/>
        </p:nvSpPr>
        <p:spPr>
          <a:xfrm>
            <a:off x="502920" y="2436875"/>
            <a:ext cx="320040" cy="320040"/>
          </a:xfrm>
          <a:prstGeom prst="rect">
            <a:avLst/>
          </a:prstGeom>
          <a:solidFill>
            <a:srgbClr val="256D85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18587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334155"/>
                </a:solidFill>
              </a:rPr>
              <a:t>ICH teacher cải tiến tốt hơn ở bài toán ICH, nhưng chưa chuyển hóa thành cải thiện PHE rõ rệt.</a:t>
            </a:r>
            <a:endParaRPr lang="en-US" sz="1360" dirty="0"/>
          </a:p>
        </p:txBody>
      </p:sp>
      <p:sp>
        <p:nvSpPr>
          <p:cNvPr id="12" name="Text 10"/>
          <p:cNvSpPr/>
          <p:nvPr/>
        </p:nvSpPr>
        <p:spPr>
          <a:xfrm>
            <a:off x="502920" y="3095243"/>
            <a:ext cx="320040" cy="320040"/>
          </a:xfrm>
          <a:prstGeom prst="rect">
            <a:avLst/>
          </a:prstGeom>
          <a:solidFill>
            <a:srgbClr val="256D85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076955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334155"/>
                </a:solidFill>
              </a:rPr>
              <a:t>Pseudo-prior đạt mức tương đương teacher-prior, cho thấy bottleneck nằm ở cách biểu diễn prior.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1005840" y="3735323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334155"/>
                </a:solidFill>
              </a:rPr>
              <a:t>Hướng tiếp theo: k-fold, external validation, ring prior quanh ICH, loss cân bằng FP/FN và postprocess cho PHE nhỏ.</a:t>
            </a:r>
            <a:endParaRPr lang="en-US" sz="1360" dirty="0"/>
          </a:p>
        </p:txBody>
      </p:sp>
      <p:sp>
        <p:nvSpPr>
          <p:cNvPr id="18" name="Text 14"/>
          <p:cNvSpPr/>
          <p:nvPr/>
        </p:nvSpPr>
        <p:spPr>
          <a:xfrm>
            <a:off x="822960" y="5989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FA34ADA5-7D83-1E84-FD65-6AD109DAC0B8}"/>
              </a:ext>
            </a:extLst>
          </p:cNvPr>
          <p:cNvSpPr/>
          <p:nvPr/>
        </p:nvSpPr>
        <p:spPr>
          <a:xfrm>
            <a:off x="502920" y="3753611"/>
            <a:ext cx="320040" cy="320040"/>
          </a:xfrm>
          <a:prstGeom prst="rect">
            <a:avLst/>
          </a:prstGeom>
          <a:solidFill>
            <a:srgbClr val="256D85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D5676EB2-F64C-662E-F1F3-543CB6A7B66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1147</Words>
  <Application>Microsoft Office PowerPoint</Application>
  <PresentationFormat>Widescreen</PresentationFormat>
  <Paragraphs>227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Đánh giá ICH prior trong phân đoạn PHE trên ảnh CT</dc:title>
  <dc:subject>PHE ICH presentation</dc:subject>
  <dc:creator>OpenAI</dc:creator>
  <cp:lastModifiedBy>doananhvu16092005@gmail.com</cp:lastModifiedBy>
  <cp:revision>3</cp:revision>
  <dcterms:created xsi:type="dcterms:W3CDTF">2026-06-24T07:50:39Z</dcterms:created>
  <dcterms:modified xsi:type="dcterms:W3CDTF">2026-06-24T14:25:40Z</dcterms:modified>
</cp:coreProperties>
</file>